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70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11/10/2020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83571" y="30511"/>
            <a:ext cx="178477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n-IN" sz="7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মেয়াদ কালঃ চাকুরী অবসান না হওয়া পর্যন্ত</a:t>
            </a:r>
            <a:endParaRPr lang="en-US" sz="700" dirty="0">
              <a:effectLst/>
              <a:latin typeface="Kalpurush" panose="02000600000000000000" pitchFamily="2" charset="0"/>
              <a:ea typeface="Times New Roman" panose="02020603050405020304" pitchFamily="18" charset="0"/>
              <a:cs typeface="Kalpurush" panose="02000600000000000000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1396" y="277377"/>
            <a:ext cx="1394640" cy="5078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bn-IN" sz="800" b="1" u="sng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প্রতিষ্ঠানের ঠিকানা</a:t>
            </a:r>
            <a:endParaRPr lang="en-US" sz="800" b="1" u="sng" dirty="0">
              <a:effectLst/>
              <a:latin typeface="Kalpurush" panose="02000600000000000000" pitchFamily="2" charset="0"/>
              <a:ea typeface="Times New Roman" panose="02020603050405020304" pitchFamily="18" charset="0"/>
              <a:cs typeface="Kalpurush" panose="02000600000000000000" pitchFamily="2" charset="0"/>
            </a:endParaRPr>
          </a:p>
          <a:p>
            <a:pPr algn="ctr"/>
            <a:r>
              <a:rPr lang="en-US" sz="900" b="1" dirty="0">
                <a:solidFill>
                  <a:srgbClr val="000000"/>
                </a:solidFill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সাদমা ফ্যাশন ওয়্যার লিঃ</a:t>
            </a:r>
            <a:endParaRPr lang="en-US" sz="900" b="1" u="sng" dirty="0">
              <a:latin typeface="Kalpurush" panose="02000600000000000000" pitchFamily="2" charset="0"/>
              <a:cs typeface="Kalpurush" panose="02000600000000000000" pitchFamily="2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মৌচাক, কালিয়াকৈর, গাজীপুর।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bn-IN" sz="8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ফোন নং</a:t>
            </a:r>
            <a:r>
              <a:rPr lang="en-US" sz="8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: 880-2-9298027-8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1" y="982469"/>
            <a:ext cx="690251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bn-IN" sz="10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রক্তের গ্রুপ</a:t>
            </a:r>
            <a:endParaRPr lang="en-US" sz="1000" b="1" dirty="0">
              <a:latin typeface="Kalpurush" panose="02000600000000000000" pitchFamily="2" charset="0"/>
              <a:cs typeface="Kalpurush" panose="02000600000000000000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1396" y="1514712"/>
            <a:ext cx="1331843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bn-IN" sz="1000" b="1" u="sng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স্থায়ী ঠিকানা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19" y="1134227"/>
            <a:ext cx="737312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bn-IN" sz="10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ফোন নং</a:t>
            </a:r>
            <a:r>
              <a:rPr lang="en-US" sz="10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(</a:t>
            </a:r>
            <a:r>
              <a:rPr lang="bn-IN" sz="10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কর্মী</a:t>
            </a:r>
            <a:r>
              <a:rPr lang="en-US" sz="1000" dirty="0">
                <a:latin typeface="Kalpurush" panose="02000600000000000000" pitchFamily="2" charset="0"/>
                <a:cs typeface="Kalpurush" panose="02000600000000000000" pitchFamily="2" charset="0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621" y="2215740"/>
            <a:ext cx="1692088" cy="4914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bn-IN" sz="7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বি</a:t>
            </a:r>
            <a:r>
              <a:rPr lang="en-US" sz="7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: </a:t>
            </a:r>
            <a:r>
              <a:rPr lang="bn-IN" sz="7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দ্র</a:t>
            </a:r>
            <a:r>
              <a:rPr lang="en-US" sz="7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:</a:t>
            </a:r>
            <a:r>
              <a:rPr lang="bn-IN" sz="7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 কর্তব্যরত অবস্থায় কার্ড সবসময় পরিধান করতে হবে।</a:t>
            </a:r>
            <a:r>
              <a:rPr lang="bn-IN" sz="700" b="1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 </a:t>
            </a:r>
            <a:r>
              <a:rPr lang="bn-IN" sz="7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এই পরিচয় পত্র হস্তান্তর যোগ্য নয়।  হারিয়ে গেলে বা নষ্ট হয়ে গেলে তাৎক্ষণিক কর্তৃপক্ষকে অবহিত করুন।</a:t>
            </a:r>
            <a:endParaRPr lang="en-US" sz="700" dirty="0">
              <a:effectLst/>
              <a:latin typeface="Kalpurush" panose="02000600000000000000" pitchFamily="2" charset="0"/>
              <a:ea typeface="Times New Roman" panose="02020603050405020304" pitchFamily="18" charset="0"/>
              <a:cs typeface="Kalpurush" panose="02000600000000000000" pitchFamily="2" charset="0"/>
            </a:endParaRPr>
          </a:p>
        </p:txBody>
      </p:sp>
      <p:sp>
        <p:nvSpPr>
          <p:cNvPr id="30" name="BloodGroup">
            <a:extLst>
              <a:ext uri="{FF2B5EF4-FFF2-40B4-BE49-F238E27FC236}">
                <a16:creationId xmlns:a16="http://schemas.microsoft.com/office/drawing/2014/main" id="{F02A1CC2-C122-4427-909B-B74007668281}"/>
              </a:ext>
            </a:extLst>
          </p:cNvPr>
          <p:cNvSpPr txBox="1"/>
          <p:nvPr/>
        </p:nvSpPr>
        <p:spPr>
          <a:xfrm>
            <a:off x="837907" y="995394"/>
            <a:ext cx="955106" cy="128342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Arial Narrow" panose="020B0606020202030204" pitchFamily="34" charset="0"/>
                <a:cs typeface="Kalpurush" panose="02000600000000000000" pitchFamily="2" charset="0"/>
              </a:rPr>
              <a:t>{</a:t>
            </a:r>
            <a:r>
              <a:rPr lang="en-US" sz="1000" b="1" dirty="0">
                <a:latin typeface="Arial Narrow" panose="020B0606020202030204" pitchFamily="34" charset="0"/>
                <a:cs typeface="Kalpurush" panose="02000600000000000000" pitchFamily="2" charset="0"/>
              </a:rPr>
              <a:t>BloodGroup</a:t>
            </a:r>
            <a:r>
              <a:rPr lang="en-US" sz="1000" dirty="0">
                <a:latin typeface="Arial Narrow" panose="020B0606020202030204" pitchFamily="34" charset="0"/>
                <a:cs typeface="Kalpurush" panose="02000600000000000000" pitchFamily="2" charset="0"/>
              </a:rPr>
              <a:t>}</a:t>
            </a:r>
          </a:p>
        </p:txBody>
      </p:sp>
      <p:sp>
        <p:nvSpPr>
          <p:cNvPr id="32" name="PhoneNumber">
            <a:extLst>
              <a:ext uri="{FF2B5EF4-FFF2-40B4-BE49-F238E27FC236}">
                <a16:creationId xmlns:a16="http://schemas.microsoft.com/office/drawing/2014/main" id="{4C05CB7A-8179-4F49-92D6-5A01C7490C33}"/>
              </a:ext>
            </a:extLst>
          </p:cNvPr>
          <p:cNvSpPr txBox="1"/>
          <p:nvPr/>
        </p:nvSpPr>
        <p:spPr>
          <a:xfrm>
            <a:off x="837911" y="1162147"/>
            <a:ext cx="1030434" cy="150925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Kalpurush" panose="02000600000000000000" pitchFamily="2" charset="0"/>
              </a:rPr>
              <a:t>{PhoneNumber}</a:t>
            </a:r>
          </a:p>
        </p:txBody>
      </p:sp>
      <p:sp>
        <p:nvSpPr>
          <p:cNvPr id="33" name="NID">
            <a:extLst>
              <a:ext uri="{FF2B5EF4-FFF2-40B4-BE49-F238E27FC236}">
                <a16:creationId xmlns:a16="http://schemas.microsoft.com/office/drawing/2014/main" id="{9B6718AB-E94E-4BD2-AE86-8EDF4D6528C2}"/>
              </a:ext>
            </a:extLst>
          </p:cNvPr>
          <p:cNvSpPr txBox="1"/>
          <p:nvPr/>
        </p:nvSpPr>
        <p:spPr>
          <a:xfrm>
            <a:off x="735660" y="1344013"/>
            <a:ext cx="1132684" cy="88362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Kalpurush" panose="02000600000000000000" pitchFamily="2" charset="0"/>
              </a:rPr>
              <a:t>{NID}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EAA245-DC38-4639-9EE3-3E5AF51A7142}"/>
              </a:ext>
            </a:extLst>
          </p:cNvPr>
          <p:cNvSpPr txBox="1"/>
          <p:nvPr/>
        </p:nvSpPr>
        <p:spPr>
          <a:xfrm>
            <a:off x="176256" y="2852089"/>
            <a:ext cx="1692088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/>
              <a:t>www.sadmagroupbd.com</a:t>
            </a:r>
            <a:endParaRPr lang="en-US" sz="200" b="1" dirty="0">
              <a:latin typeface="Arial Black" panose="020B0A04020102020204" pitchFamily="34" charset="0"/>
            </a:endParaRPr>
          </a:p>
        </p:txBody>
      </p:sp>
      <p:sp>
        <p:nvSpPr>
          <p:cNvPr id="12" name="PermanentAddress">
            <a:extLst>
              <a:ext uri="{FF2B5EF4-FFF2-40B4-BE49-F238E27FC236}">
                <a16:creationId xmlns:a16="http://schemas.microsoft.com/office/drawing/2014/main" id="{7EBA6702-B002-4B09-AB19-83E612C1DC78}"/>
              </a:ext>
            </a:extLst>
          </p:cNvPr>
          <p:cNvSpPr txBox="1"/>
          <p:nvPr/>
        </p:nvSpPr>
        <p:spPr>
          <a:xfrm>
            <a:off x="301396" y="1702148"/>
            <a:ext cx="1456982" cy="369332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 dirty="0">
                <a:latin typeface="Kalpurush" panose="02000600000000000000" pitchFamily="2" charset="0"/>
                <a:cs typeface="Kalpurush" panose="02000600000000000000" pitchFamily="2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Kalpurush" panose="02000600000000000000" pitchFamily="2" charset="0"/>
              </a:rPr>
              <a:t>PermanentAddress</a:t>
            </a:r>
            <a:r>
              <a:rPr lang="en-US" sz="800" dirty="0">
                <a:latin typeface="Arial Narrow" panose="020B0606020202030204" pitchFamily="34" charset="0"/>
                <a:cs typeface="Kalpurush" panose="02000600000000000000" pitchFamily="2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CBA51-054C-4842-96BC-EE3D4A5C9F03}"/>
              </a:ext>
            </a:extLst>
          </p:cNvPr>
          <p:cNvSpPr txBox="1"/>
          <p:nvPr/>
        </p:nvSpPr>
        <p:spPr>
          <a:xfrm>
            <a:off x="58832" y="1314395"/>
            <a:ext cx="664844" cy="153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bn-IN" sz="10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এন</a:t>
            </a:r>
            <a:r>
              <a:rPr lang="en-US" sz="10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.</a:t>
            </a:r>
            <a:r>
              <a:rPr lang="bn-IN" sz="10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আইডি</a:t>
            </a:r>
            <a:r>
              <a:rPr lang="en-US" sz="10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.</a:t>
            </a:r>
            <a:r>
              <a:rPr lang="bn-IN" sz="1000" dirty="0">
                <a:effectLst/>
                <a:latin typeface="Kalpurush" panose="02000600000000000000" pitchFamily="2" charset="0"/>
                <a:ea typeface="Times New Roman" panose="02020603050405020304" pitchFamily="18" charset="0"/>
                <a:cs typeface="Kalpurush" panose="02000600000000000000" pitchFamily="2" charset="0"/>
              </a:rPr>
              <a:t>নং</a:t>
            </a:r>
            <a:endParaRPr lang="en-US" sz="1000" dirty="0">
              <a:effectLst/>
              <a:latin typeface="Kalpurush" panose="02000600000000000000" pitchFamily="2" charset="0"/>
              <a:ea typeface="Times New Roman" panose="02020603050405020304" pitchFamily="18" charset="0"/>
              <a:cs typeface="Kalpurush" panose="02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235CF-D9FB-4398-98B6-0C80E40C3821}"/>
              </a:ext>
            </a:extLst>
          </p:cNvPr>
          <p:cNvSpPr txBox="1"/>
          <p:nvPr/>
        </p:nvSpPr>
        <p:spPr>
          <a:xfrm>
            <a:off x="788233" y="979077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397977-89C3-4C13-A72B-4D7B3EA274E8}"/>
              </a:ext>
            </a:extLst>
          </p:cNvPr>
          <p:cNvSpPr txBox="1"/>
          <p:nvPr/>
        </p:nvSpPr>
        <p:spPr>
          <a:xfrm>
            <a:off x="795166" y="1159185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F34AC-F228-4461-9A5A-3B8D496CC528}"/>
              </a:ext>
            </a:extLst>
          </p:cNvPr>
          <p:cNvSpPr txBox="1"/>
          <p:nvPr/>
        </p:nvSpPr>
        <p:spPr>
          <a:xfrm>
            <a:off x="684325" y="1304654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4FA81-AB56-44AC-B0F9-7FE765ECF919}"/>
              </a:ext>
            </a:extLst>
          </p:cNvPr>
          <p:cNvSpPr txBox="1"/>
          <p:nvPr/>
        </p:nvSpPr>
        <p:spPr>
          <a:xfrm>
            <a:off x="184894" y="1379085"/>
            <a:ext cx="4464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n-IN" sz="10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নাম</a:t>
            </a:r>
            <a:endParaRPr lang="en-US" sz="1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726BC-2D4D-4EB4-ADBB-9C8A0810AD8F}"/>
              </a:ext>
            </a:extLst>
          </p:cNvPr>
          <p:cNvSpPr txBox="1"/>
          <p:nvPr/>
        </p:nvSpPr>
        <p:spPr>
          <a:xfrm>
            <a:off x="180554" y="1541865"/>
            <a:ext cx="63968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n-IN" sz="9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পদবী</a:t>
            </a:r>
            <a:endParaRPr lang="en-US" sz="105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40856-7C3D-4A16-B79C-E5A82B5373BA}"/>
              </a:ext>
            </a:extLst>
          </p:cNvPr>
          <p:cNvSpPr txBox="1"/>
          <p:nvPr/>
        </p:nvSpPr>
        <p:spPr>
          <a:xfrm>
            <a:off x="187847" y="1235582"/>
            <a:ext cx="6649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n-IN" sz="10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আইডি</a:t>
            </a:r>
            <a:r>
              <a:rPr lang="bn-IN" sz="1000" b="1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 </a:t>
            </a:r>
            <a:r>
              <a:rPr lang="bn-IN" sz="10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নং</a:t>
            </a:r>
            <a:endParaRPr lang="en-US" sz="1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BC7F31-F916-4AD2-B1EE-EC01D72EB911}"/>
              </a:ext>
            </a:extLst>
          </p:cNvPr>
          <p:cNvSpPr txBox="1"/>
          <p:nvPr/>
        </p:nvSpPr>
        <p:spPr>
          <a:xfrm>
            <a:off x="168855" y="1684119"/>
            <a:ext cx="69696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n-IN" sz="8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বিভাগ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E2328B-C9BF-4934-96B6-CF98B1AB83D9}"/>
              </a:ext>
            </a:extLst>
          </p:cNvPr>
          <p:cNvSpPr txBox="1"/>
          <p:nvPr/>
        </p:nvSpPr>
        <p:spPr>
          <a:xfrm>
            <a:off x="185535" y="2037109"/>
            <a:ext cx="655448" cy="1040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n-IN" sz="9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কাজের ধরন</a:t>
            </a:r>
            <a:endParaRPr lang="en-US" sz="9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C494C8-4E79-481E-9FF9-196F713F54C9}"/>
              </a:ext>
            </a:extLst>
          </p:cNvPr>
          <p:cNvSpPr txBox="1"/>
          <p:nvPr/>
        </p:nvSpPr>
        <p:spPr>
          <a:xfrm>
            <a:off x="172258" y="2216304"/>
            <a:ext cx="758785" cy="1040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n-IN" sz="9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যোগদানের</a:t>
            </a:r>
            <a:r>
              <a:rPr lang="en-US" sz="9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 </a:t>
            </a:r>
            <a:r>
              <a:rPr lang="bn-IN" sz="9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তাং</a:t>
            </a:r>
            <a:endParaRPr lang="en-US" sz="9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E3F76-BE7D-409E-88FA-CC5857692C05}"/>
              </a:ext>
            </a:extLst>
          </p:cNvPr>
          <p:cNvSpPr txBox="1"/>
          <p:nvPr/>
        </p:nvSpPr>
        <p:spPr>
          <a:xfrm>
            <a:off x="191444" y="2375632"/>
            <a:ext cx="691976" cy="1040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n-IN" sz="900" dirty="0"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বিতরণের তাং</a:t>
            </a:r>
            <a:endParaRPr lang="en-US" sz="9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84" y="378534"/>
            <a:ext cx="664916" cy="7974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DESIG">
            <a:extLst>
              <a:ext uri="{FF2B5EF4-FFF2-40B4-BE49-F238E27FC236}">
                <a16:creationId xmlns:a16="http://schemas.microsoft.com/office/drawing/2014/main" id="{EA47297C-04B5-46C8-BEF9-7368E9F19420}"/>
              </a:ext>
            </a:extLst>
          </p:cNvPr>
          <p:cNvSpPr txBox="1"/>
          <p:nvPr/>
        </p:nvSpPr>
        <p:spPr>
          <a:xfrm>
            <a:off x="899170" y="1598161"/>
            <a:ext cx="1046671" cy="62763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{DESIG}</a:t>
            </a:r>
          </a:p>
        </p:txBody>
      </p:sp>
      <p:sp>
        <p:nvSpPr>
          <p:cNvPr id="12" name="ID">
            <a:extLst>
              <a:ext uri="{FF2B5EF4-FFF2-40B4-BE49-F238E27FC236}">
                <a16:creationId xmlns:a16="http://schemas.microsoft.com/office/drawing/2014/main" id="{4EA6B31D-8B42-45E8-A7BA-F234470E71A7}"/>
              </a:ext>
            </a:extLst>
          </p:cNvPr>
          <p:cNvSpPr txBox="1"/>
          <p:nvPr/>
        </p:nvSpPr>
        <p:spPr>
          <a:xfrm>
            <a:off x="894704" y="1271636"/>
            <a:ext cx="932851" cy="88637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13" name="Department">
            <a:extLst>
              <a:ext uri="{FF2B5EF4-FFF2-40B4-BE49-F238E27FC236}">
                <a16:creationId xmlns:a16="http://schemas.microsoft.com/office/drawing/2014/main" id="{A3933571-16B3-4AC0-A0D8-7C59774F3232}"/>
              </a:ext>
            </a:extLst>
          </p:cNvPr>
          <p:cNvSpPr txBox="1"/>
          <p:nvPr/>
        </p:nvSpPr>
        <p:spPr>
          <a:xfrm>
            <a:off x="908521" y="1743735"/>
            <a:ext cx="941021" cy="59665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{Department}</a:t>
            </a:r>
          </a:p>
        </p:txBody>
      </p:sp>
      <p:sp>
        <p:nvSpPr>
          <p:cNvPr id="14" name="WorkType">
            <a:extLst>
              <a:ext uri="{FF2B5EF4-FFF2-40B4-BE49-F238E27FC236}">
                <a16:creationId xmlns:a16="http://schemas.microsoft.com/office/drawing/2014/main" id="{79FD245D-22DA-4C7D-BFBE-259280B54874}"/>
              </a:ext>
            </a:extLst>
          </p:cNvPr>
          <p:cNvSpPr txBox="1"/>
          <p:nvPr/>
        </p:nvSpPr>
        <p:spPr>
          <a:xfrm>
            <a:off x="907829" y="2063192"/>
            <a:ext cx="961802" cy="73425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{WorkType}</a:t>
            </a:r>
          </a:p>
        </p:txBody>
      </p:sp>
      <p:sp>
        <p:nvSpPr>
          <p:cNvPr id="15" name="DOJ">
            <a:extLst>
              <a:ext uri="{FF2B5EF4-FFF2-40B4-BE49-F238E27FC236}">
                <a16:creationId xmlns:a16="http://schemas.microsoft.com/office/drawing/2014/main" id="{BC71BAB2-9B3E-4189-8DEA-E9261D0B50D6}"/>
              </a:ext>
            </a:extLst>
          </p:cNvPr>
          <p:cNvSpPr txBox="1"/>
          <p:nvPr/>
        </p:nvSpPr>
        <p:spPr>
          <a:xfrm>
            <a:off x="922921" y="2233891"/>
            <a:ext cx="843498" cy="82153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16" name="IssueDate">
            <a:extLst>
              <a:ext uri="{FF2B5EF4-FFF2-40B4-BE49-F238E27FC236}">
                <a16:creationId xmlns:a16="http://schemas.microsoft.com/office/drawing/2014/main" id="{1D7DE6C7-D0D2-4BFF-B0EC-DBBEF3D8F465}"/>
              </a:ext>
            </a:extLst>
          </p:cNvPr>
          <p:cNvSpPr txBox="1"/>
          <p:nvPr/>
        </p:nvSpPr>
        <p:spPr>
          <a:xfrm>
            <a:off x="925738" y="2389608"/>
            <a:ext cx="818535" cy="122385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{IssueDate}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7F15C0-347F-451B-9173-2E983B4C4AB4}"/>
              </a:ext>
            </a:extLst>
          </p:cNvPr>
          <p:cNvCxnSpPr>
            <a:cxnSpLocks/>
          </p:cNvCxnSpPr>
          <p:nvPr/>
        </p:nvCxnSpPr>
        <p:spPr>
          <a:xfrm>
            <a:off x="297294" y="2886031"/>
            <a:ext cx="606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44054C-E047-4C6D-A561-4AD5B049E0A9}"/>
              </a:ext>
            </a:extLst>
          </p:cNvPr>
          <p:cNvCxnSpPr/>
          <p:nvPr/>
        </p:nvCxnSpPr>
        <p:spPr>
          <a:xfrm>
            <a:off x="1107751" y="2876169"/>
            <a:ext cx="6854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49DF434-D734-41C4-BBF4-F1490586C647}"/>
              </a:ext>
            </a:extLst>
          </p:cNvPr>
          <p:cNvSpPr txBox="1"/>
          <p:nvPr/>
        </p:nvSpPr>
        <p:spPr>
          <a:xfrm>
            <a:off x="459682" y="54039"/>
            <a:ext cx="1446772" cy="2000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691515" algn="l"/>
                <a:tab pos="1002030" algn="l"/>
                <a:tab pos="1187450" algn="l"/>
                <a:tab pos="1372870" algn="l"/>
                <a:tab pos="1558290" algn="l"/>
                <a:tab pos="1743710" algn="l"/>
                <a:tab pos="1929130" algn="l"/>
                <a:tab pos="2114550" algn="l"/>
                <a:tab pos="2299970" algn="l"/>
                <a:tab pos="2485390" algn="l"/>
                <a:tab pos="2670810" algn="l"/>
                <a:tab pos="2856230" algn="l"/>
                <a:tab pos="3041650" algn="l"/>
                <a:tab pos="3227070" algn="l"/>
                <a:tab pos="3412490" algn="l"/>
                <a:tab pos="3597910" algn="l"/>
                <a:tab pos="3783330" algn="l"/>
                <a:tab pos="3968750" algn="l"/>
                <a:tab pos="4110355" algn="l"/>
                <a:tab pos="4251960" algn="l"/>
                <a:tab pos="4393565" algn="l"/>
                <a:tab pos="4542155" algn="l"/>
                <a:tab pos="4690110" algn="l"/>
                <a:tab pos="6010910" algn="l"/>
              </a:tabLst>
            </a:pPr>
            <a:r>
              <a:rPr lang="bn-BD" sz="800" b="1" dirty="0">
                <a:solidFill>
                  <a:srgbClr val="000000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সাদমা ফ্যাশন ওয়্যার </a:t>
            </a:r>
            <a:r>
              <a:rPr lang="en-US" sz="800" b="1" dirty="0">
                <a:solidFill>
                  <a:srgbClr val="000000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লিঃ</a:t>
            </a:r>
            <a:endParaRPr lang="en-US" sz="600" b="1" dirty="0">
              <a:solidFill>
                <a:srgbClr val="000000"/>
              </a:solidFill>
              <a:effectLst/>
              <a:latin typeface="SolaimanLipi" panose="03000609000000000000" pitchFamily="65" charset="0"/>
              <a:ea typeface="Times New Roman" panose="02020603050405020304" pitchFamily="18" charset="0"/>
              <a:cs typeface="SolaimanLipi" panose="03000609000000000000" pitchFamily="65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691515" algn="l"/>
                <a:tab pos="1002030" algn="l"/>
                <a:tab pos="1187450" algn="l"/>
                <a:tab pos="1372870" algn="l"/>
                <a:tab pos="1558290" algn="l"/>
                <a:tab pos="1743710" algn="l"/>
                <a:tab pos="1929130" algn="l"/>
                <a:tab pos="2114550" algn="l"/>
                <a:tab pos="2299970" algn="l"/>
                <a:tab pos="2485390" algn="l"/>
                <a:tab pos="2670810" algn="l"/>
                <a:tab pos="2856230" algn="l"/>
                <a:tab pos="3041650" algn="l"/>
                <a:tab pos="3227070" algn="l"/>
                <a:tab pos="3412490" algn="l"/>
                <a:tab pos="3597910" algn="l"/>
                <a:tab pos="3783330" algn="l"/>
                <a:tab pos="3968750" algn="l"/>
                <a:tab pos="4110355" algn="l"/>
                <a:tab pos="4251960" algn="l"/>
                <a:tab pos="4393565" algn="l"/>
                <a:tab pos="4542155" algn="l"/>
                <a:tab pos="4690110" algn="l"/>
                <a:tab pos="6010910" algn="l"/>
              </a:tabLst>
            </a:pPr>
            <a:r>
              <a:rPr lang="bn-BD" sz="500" b="1" dirty="0">
                <a:solidFill>
                  <a:srgbClr val="000000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মৌচাক</a:t>
            </a:r>
            <a:r>
              <a:rPr lang="en-US" sz="500" b="1" dirty="0">
                <a:solidFill>
                  <a:srgbClr val="000000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,</a:t>
            </a:r>
            <a:r>
              <a:rPr lang="bn-BD" sz="500" b="1" dirty="0">
                <a:solidFill>
                  <a:srgbClr val="000000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 কালিয়াকৈর</a:t>
            </a:r>
            <a:r>
              <a:rPr lang="en-US" sz="500" b="1" dirty="0">
                <a:solidFill>
                  <a:srgbClr val="000000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,</a:t>
            </a:r>
            <a:r>
              <a:rPr lang="bn-BD" sz="500" b="1" dirty="0">
                <a:solidFill>
                  <a:srgbClr val="000000"/>
                </a:solidFill>
                <a:effectLst/>
                <a:latin typeface="SolaimanLipi" panose="03000609000000000000" pitchFamily="65" charset="0"/>
                <a:ea typeface="Times New Roman" panose="02020603050405020304" pitchFamily="18" charset="0"/>
                <a:cs typeface="SolaimanLipi" panose="03000609000000000000" pitchFamily="65" charset="0"/>
              </a:rPr>
              <a:t> গাজীপুর।</a:t>
            </a:r>
            <a:endParaRPr lang="en-US" sz="200" dirty="0">
              <a:effectLst/>
              <a:latin typeface="SolaimanLipi" panose="03000609000000000000" pitchFamily="65" charset="0"/>
              <a:ea typeface="Times New Roman" panose="02020603050405020304" pitchFamily="18" charset="0"/>
              <a:cs typeface="SolaimanLipi" panose="03000609000000000000" pitchFamily="65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B76BCB-4C8B-4B06-9EF0-162A18819DE7}"/>
              </a:ext>
            </a:extLst>
          </p:cNvPr>
          <p:cNvSpPr txBox="1"/>
          <p:nvPr/>
        </p:nvSpPr>
        <p:spPr>
          <a:xfrm>
            <a:off x="250232" y="2914701"/>
            <a:ext cx="1629872" cy="1077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bn-IN" sz="7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শ্রমিকের</a:t>
            </a:r>
            <a:r>
              <a:rPr lang="bn-IN" sz="700" b="1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 </a:t>
            </a:r>
            <a:r>
              <a:rPr lang="bn-IN" sz="7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স্বাক্ষর</a:t>
            </a:r>
            <a:r>
              <a:rPr lang="en-US" sz="7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             </a:t>
            </a:r>
            <a:r>
              <a:rPr lang="as-IN" sz="7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কর্তৃপক্ষের স্বাক্ষর</a:t>
            </a:r>
            <a:endParaRPr lang="en-US" sz="700" b="1" dirty="0">
              <a:latin typeface="Arial Narrow" panose="020B0606020202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318CC9-55F9-4603-8035-496377388DD8}"/>
              </a:ext>
            </a:extLst>
          </p:cNvPr>
          <p:cNvCxnSpPr>
            <a:cxnSpLocks/>
          </p:cNvCxnSpPr>
          <p:nvPr/>
        </p:nvCxnSpPr>
        <p:spPr>
          <a:xfrm>
            <a:off x="7744" y="329438"/>
            <a:ext cx="1940119" cy="4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9DA2D272-77EF-47B4-B684-1F1933139A7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1" t="14743"/>
          <a:stretch/>
        </p:blipFill>
        <p:spPr>
          <a:xfrm>
            <a:off x="75258" y="36963"/>
            <a:ext cx="393092" cy="257724"/>
          </a:xfrm>
          <a:prstGeom prst="rect">
            <a:avLst/>
          </a:prstGeom>
        </p:spPr>
      </p:pic>
      <p:sp>
        <p:nvSpPr>
          <p:cNvPr id="19" name="Name">
            <a:extLst>
              <a:ext uri="{FF2B5EF4-FFF2-40B4-BE49-F238E27FC236}">
                <a16:creationId xmlns:a16="http://schemas.microsoft.com/office/drawing/2014/main" id="{E15364E4-6DC3-4184-BD07-D4B296A5FE0D}"/>
              </a:ext>
            </a:extLst>
          </p:cNvPr>
          <p:cNvSpPr txBox="1"/>
          <p:nvPr/>
        </p:nvSpPr>
        <p:spPr>
          <a:xfrm>
            <a:off x="891902" y="1433043"/>
            <a:ext cx="971494" cy="70500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591CED-5F38-4403-AF46-4FF1357753A2}"/>
              </a:ext>
            </a:extLst>
          </p:cNvPr>
          <p:cNvSpPr txBox="1"/>
          <p:nvPr/>
        </p:nvSpPr>
        <p:spPr>
          <a:xfrm>
            <a:off x="836722" y="1228456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EA25CC-893D-4FFD-A2D2-D310BA5A87C8}"/>
              </a:ext>
            </a:extLst>
          </p:cNvPr>
          <p:cNvSpPr txBox="1"/>
          <p:nvPr/>
        </p:nvSpPr>
        <p:spPr>
          <a:xfrm>
            <a:off x="836722" y="1380860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5C8015-585D-42B9-9919-9DA6F918679F}"/>
              </a:ext>
            </a:extLst>
          </p:cNvPr>
          <p:cNvSpPr txBox="1"/>
          <p:nvPr/>
        </p:nvSpPr>
        <p:spPr>
          <a:xfrm>
            <a:off x="843649" y="1547111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F56D74-6BFE-4FDA-91A5-645E57169468}"/>
              </a:ext>
            </a:extLst>
          </p:cNvPr>
          <p:cNvSpPr txBox="1"/>
          <p:nvPr/>
        </p:nvSpPr>
        <p:spPr>
          <a:xfrm>
            <a:off x="834298" y="1699514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44AC30-9577-40F6-B161-782A1DDFCF39}"/>
              </a:ext>
            </a:extLst>
          </p:cNvPr>
          <p:cNvSpPr txBox="1"/>
          <p:nvPr/>
        </p:nvSpPr>
        <p:spPr>
          <a:xfrm>
            <a:off x="836722" y="1851910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67C611-29A7-4975-ACA1-0ECBEAD83E60}"/>
              </a:ext>
            </a:extLst>
          </p:cNvPr>
          <p:cNvSpPr txBox="1"/>
          <p:nvPr/>
        </p:nvSpPr>
        <p:spPr>
          <a:xfrm>
            <a:off x="846643" y="2038259"/>
            <a:ext cx="32061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46CD58-9B1C-478A-AE90-B3E15DAA5435}"/>
              </a:ext>
            </a:extLst>
          </p:cNvPr>
          <p:cNvSpPr txBox="1"/>
          <p:nvPr/>
        </p:nvSpPr>
        <p:spPr>
          <a:xfrm>
            <a:off x="848791" y="2203812"/>
            <a:ext cx="2914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050BC9D-FB91-4052-B9BB-2656172BC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799" y="2566238"/>
            <a:ext cx="818536" cy="2952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E7B453-FA87-4C84-BB15-B5014B9873F1}"/>
              </a:ext>
            </a:extLst>
          </p:cNvPr>
          <p:cNvSpPr txBox="1"/>
          <p:nvPr/>
        </p:nvSpPr>
        <p:spPr>
          <a:xfrm>
            <a:off x="165769" y="1855760"/>
            <a:ext cx="69696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bn-IN" sz="800" dirty="0">
                <a:effectLst/>
                <a:ea typeface="Times New Roman" panose="02020603050405020304" pitchFamily="18" charset="0"/>
                <a:cs typeface="SolaimanLipi" panose="03000609000000000000" pitchFamily="65" charset="0"/>
              </a:rPr>
              <a:t>সেকশন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EFA538-6DE5-478D-A0B0-4546485A2266}"/>
              </a:ext>
            </a:extLst>
          </p:cNvPr>
          <p:cNvSpPr txBox="1"/>
          <p:nvPr/>
        </p:nvSpPr>
        <p:spPr>
          <a:xfrm>
            <a:off x="841863" y="2370066"/>
            <a:ext cx="29146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b="1" dirty="0">
                <a:latin typeface="Arial Narrow" panose="020B0606020202030204" pitchFamily="34" charset="0"/>
              </a:rPr>
              <a:t>:</a:t>
            </a:r>
          </a:p>
        </p:txBody>
      </p:sp>
      <p:sp>
        <p:nvSpPr>
          <p:cNvPr id="30" name="Department">
            <a:extLst>
              <a:ext uri="{FF2B5EF4-FFF2-40B4-BE49-F238E27FC236}">
                <a16:creationId xmlns:a16="http://schemas.microsoft.com/office/drawing/2014/main" id="{EA4EC24C-6EC8-4E49-AD4F-A74BC563E997}"/>
              </a:ext>
            </a:extLst>
          </p:cNvPr>
          <p:cNvSpPr txBox="1"/>
          <p:nvPr/>
        </p:nvSpPr>
        <p:spPr>
          <a:xfrm>
            <a:off x="909256" y="1847298"/>
            <a:ext cx="941021" cy="153888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i="0" dirty="0">
                <a:solidFill>
                  <a:schemeClr val="tx1"/>
                </a:solidFill>
                <a:effectLst/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1000" b="1" i="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Section}</a:t>
            </a:r>
            <a:endParaRPr lang="en-US" sz="1000" b="1" dirty="0">
              <a:solidFill>
                <a:schemeClr val="tx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</TotalTime>
  <Pages>0</Pages>
  <Words>145</Words>
  <Characters>0</Characters>
  <Application>Microsoft Office PowerPoint</Application>
  <PresentationFormat>Custom</PresentationFormat>
  <Lines>0</Lines>
  <Paragraphs>45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Arial Black</vt:lpstr>
      <vt:lpstr>Arial Narrow</vt:lpstr>
      <vt:lpstr>Calibri</vt:lpstr>
      <vt:lpstr>Calibri Light</vt:lpstr>
      <vt:lpstr>Kalpurush</vt:lpstr>
      <vt:lpstr>SolaimanLipi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Siddik</cp:lastModifiedBy>
  <cp:revision>144</cp:revision>
  <dcterms:modified xsi:type="dcterms:W3CDTF">2020-11-10T05:22:44Z</dcterms:modified>
</cp:coreProperties>
</file>